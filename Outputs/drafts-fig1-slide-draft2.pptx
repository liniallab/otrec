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"/>
  </p:notesMasterIdLst>
  <p:sldIdLst>
    <p:sldId id="261" r:id="rId2"/>
    <p:sldId id="260" r:id="rId3"/>
    <p:sldId id="256" r:id="rId4"/>
    <p:sldId id="258" r:id="rId5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5781"/>
  </p:normalViewPr>
  <p:slideViewPr>
    <p:cSldViewPr snapToGrid="0" snapToObjects="1">
      <p:cViewPr varScale="1">
        <p:scale>
          <a:sx n="87" d="100"/>
          <a:sy n="87" d="100"/>
        </p:scale>
        <p:origin x="2028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2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2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2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Book2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 dirty="0">
                <a:effectLst/>
              </a:rPr>
              <a:t>ROC-AUC</a:t>
            </a:r>
            <a:endParaRPr lang="en-US" b="0" dirty="0">
              <a:effectLst/>
            </a:endParaRPr>
          </a:p>
        </c:rich>
      </c:tx>
      <c:layout>
        <c:manualLayout>
          <c:xMode val="edge"/>
          <c:yMode val="edge"/>
          <c:x val="0.42275892121899561"/>
          <c:y val="5.933683289588801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571343180642566"/>
          <c:y val="0.13195476219922772"/>
          <c:w val="0.8350498304500259"/>
          <c:h val="0.71650300256970501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611-5249-927E-3A08247D2BBD}"/>
              </c:ext>
            </c:extLst>
          </c:dPt>
          <c:cat>
            <c:strRef>
              <c:f>Sheet1!$A$10:$A$13</c:f>
              <c:strCache>
                <c:ptCount val="4"/>
                <c:pt idx="0">
                  <c:v>OTRec</c:v>
                </c:pt>
                <c:pt idx="1">
                  <c:v>OTTree (CatBoost)</c:v>
                </c:pt>
                <c:pt idx="2">
                  <c:v>Disease Mean Baseline</c:v>
                </c:pt>
                <c:pt idx="3">
                  <c:v>Open Targets Score</c:v>
                </c:pt>
              </c:strCache>
            </c:strRef>
          </c:cat>
          <c:val>
            <c:numRef>
              <c:f>Sheet1!$B$10:$B$13</c:f>
              <c:numCache>
                <c:formatCode>General</c:formatCode>
                <c:ptCount val="4"/>
                <c:pt idx="0">
                  <c:v>0.86299999999999999</c:v>
                </c:pt>
                <c:pt idx="1">
                  <c:v>0.85299999999999998</c:v>
                </c:pt>
                <c:pt idx="2">
                  <c:v>0.82399999999999995</c:v>
                </c:pt>
                <c:pt idx="3">
                  <c:v>0.55800000000000005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611-5249-927E-3A08247D2B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5"/>
        <c:overlap val="-27"/>
        <c:axId val="1057105792"/>
        <c:axId val="1057107440"/>
      </c:barChart>
      <c:catAx>
        <c:axId val="10571057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057107440"/>
        <c:crosses val="autoZero"/>
        <c:auto val="1"/>
        <c:lblAlgn val="ctr"/>
        <c:lblOffset val="100"/>
        <c:noMultiLvlLbl val="0"/>
      </c:catAx>
      <c:valAx>
        <c:axId val="1057107440"/>
        <c:scaling>
          <c:orientation val="minMax"/>
          <c:min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bg1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0571057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bg1"/>
      </a:solidFill>
      <a:round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dirty="0">
                <a:effectLst/>
              </a:rPr>
              <a:t>PR-AUC</a:t>
            </a:r>
            <a:endParaRPr lang="en-US" sz="1100" b="0" dirty="0">
              <a:effectLst/>
            </a:endParaRPr>
          </a:p>
        </c:rich>
      </c:tx>
      <c:layout>
        <c:manualLayout>
          <c:xMode val="edge"/>
          <c:yMode val="edge"/>
          <c:x val="0.45871940163028796"/>
          <c:y val="7.453724692479211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spPr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043-C64F-9897-5C1DC2C974E1}"/>
              </c:ext>
            </c:extLst>
          </c:dPt>
          <c:cat>
            <c:strRef>
              <c:f>Sheet1!$A$10:$A$13</c:f>
              <c:strCache>
                <c:ptCount val="4"/>
                <c:pt idx="0">
                  <c:v>OTRec</c:v>
                </c:pt>
                <c:pt idx="1">
                  <c:v>OTTree (CatBoost)</c:v>
                </c:pt>
                <c:pt idx="2">
                  <c:v>Disease Mean Baseline</c:v>
                </c:pt>
                <c:pt idx="3">
                  <c:v>Open Targets Score</c:v>
                </c:pt>
              </c:strCache>
            </c:strRef>
          </c:cat>
          <c:val>
            <c:numRef>
              <c:f>Sheet1!$C$10:$C$13</c:f>
              <c:numCache>
                <c:formatCode>General</c:formatCode>
                <c:ptCount val="4"/>
                <c:pt idx="0">
                  <c:v>0.30299999999999999</c:v>
                </c:pt>
                <c:pt idx="1">
                  <c:v>0.23300000000000001</c:v>
                </c:pt>
                <c:pt idx="2">
                  <c:v>0.29299999999999998</c:v>
                </c:pt>
                <c:pt idx="3">
                  <c:v>8.2000000000000003E-2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043-C64F-9897-5C1DC2C974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4"/>
        <c:overlap val="-27"/>
        <c:axId val="1756314880"/>
        <c:axId val="1756316528"/>
      </c:barChart>
      <c:catAx>
        <c:axId val="1756314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756316528"/>
        <c:crosses val="autoZero"/>
        <c:auto val="1"/>
        <c:lblAlgn val="ctr"/>
        <c:lblOffset val="100"/>
        <c:noMultiLvlLbl val="0"/>
      </c:catAx>
      <c:valAx>
        <c:axId val="1756316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bg1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756314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bg1"/>
      </a:solidFill>
      <a:round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ROC-AUC </a:t>
            </a:r>
          </a:p>
        </c:rich>
      </c:tx>
      <c:layout>
        <c:manualLayout>
          <c:xMode val="edge"/>
          <c:yMode val="edge"/>
          <c:x val="0.48464086237834914"/>
          <c:y val="8.544090897764931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6">
                  <a:lumMod val="7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785-5E4D-859C-EFEBCF8E3B59}"/>
              </c:ext>
            </c:extLst>
          </c:dPt>
          <c:errBars>
            <c:errBarType val="plus"/>
            <c:errValType val="cust"/>
            <c:noEndCap val="0"/>
            <c:plus>
              <c:numRef>
                <c:f>Sheet1!$C$2:$C$6</c:f>
                <c:numCache>
                  <c:formatCode>General</c:formatCode>
                  <c:ptCount val="5"/>
                  <c:pt idx="0">
                    <c:v>7.0000000000000001E-3</c:v>
                  </c:pt>
                  <c:pt idx="1">
                    <c:v>5.0000000000000001E-3</c:v>
                  </c:pt>
                  <c:pt idx="3">
                    <c:v>1.4200000000000001E-2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Sheet1!$A$2:$A$6</c:f>
              <c:strCache>
                <c:ptCount val="5"/>
                <c:pt idx="0">
                  <c:v>OTRec (DL)</c:v>
                </c:pt>
                <c:pt idx="1">
                  <c:v>OTTree (CatBoost)</c:v>
                </c:pt>
                <c:pt idx="2">
                  <c:v>Disease Mean Baseline</c:v>
                </c:pt>
                <c:pt idx="3">
                  <c:v>Han et al. (2022)</c:v>
                </c:pt>
                <c:pt idx="4">
                  <c:v>OT Score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0.95</c:v>
                </c:pt>
                <c:pt idx="1">
                  <c:v>0.94699999999999995</c:v>
                </c:pt>
                <c:pt idx="2">
                  <c:v>0.87</c:v>
                </c:pt>
                <c:pt idx="3">
                  <c:v>0.91300000000000003</c:v>
                </c:pt>
                <c:pt idx="4">
                  <c:v>0.91300000000000003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785-5E4D-859C-EFEBCF8E3B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6"/>
        <c:overlap val="-27"/>
        <c:axId val="1945394592"/>
        <c:axId val="1945396240"/>
      </c:barChart>
      <c:catAx>
        <c:axId val="19453945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945396240"/>
        <c:crosses val="autoZero"/>
        <c:auto val="1"/>
        <c:lblAlgn val="ctr"/>
        <c:lblOffset val="100"/>
        <c:noMultiLvlLbl val="0"/>
      </c:catAx>
      <c:valAx>
        <c:axId val="1945396240"/>
        <c:scaling>
          <c:orientation val="minMax"/>
          <c:min val="0.84000000000000008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bg1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9453945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PR-AUC </a:t>
            </a:r>
          </a:p>
        </c:rich>
      </c:tx>
      <c:layout>
        <c:manualLayout>
          <c:xMode val="edge"/>
          <c:yMode val="edge"/>
          <c:x val="0.50209075256754554"/>
          <c:y val="6.328956220566615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4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982-6C4E-B568-5CCC9C89FD37}"/>
              </c:ext>
            </c:extLst>
          </c:dPt>
          <c:errBars>
            <c:errBarType val="plus"/>
            <c:errValType val="cust"/>
            <c:noEndCap val="0"/>
            <c:plus>
              <c:numRef>
                <c:f>Sheet1!$E$2:$E$6</c:f>
                <c:numCache>
                  <c:formatCode>General</c:formatCode>
                  <c:ptCount val="5"/>
                  <c:pt idx="0">
                    <c:v>1.7000000000000001E-2</c:v>
                  </c:pt>
                  <c:pt idx="1">
                    <c:v>2.3E-2</c:v>
                  </c:pt>
                  <c:pt idx="3">
                    <c:v>4.5699999999999998E-2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Sheet1!$A$2:$A$6</c:f>
              <c:strCache>
                <c:ptCount val="5"/>
                <c:pt idx="0">
                  <c:v>OTRec (DL)</c:v>
                </c:pt>
                <c:pt idx="1">
                  <c:v>OTTree (CatBoost)</c:v>
                </c:pt>
                <c:pt idx="2">
                  <c:v>Disease Mean Baseline</c:v>
                </c:pt>
                <c:pt idx="3">
                  <c:v>Han et al. (2022)</c:v>
                </c:pt>
                <c:pt idx="4">
                  <c:v>OT Score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0.84399999999999997</c:v>
                </c:pt>
                <c:pt idx="1">
                  <c:v>0.77200000000000002</c:v>
                </c:pt>
                <c:pt idx="2">
                  <c:v>0.48199999999999998</c:v>
                </c:pt>
                <c:pt idx="3">
                  <c:v>0.72599999999999998</c:v>
                </c:pt>
                <c:pt idx="4">
                  <c:v>0.45400000000000001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82-6C4E-B568-5CCC9C89FD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6"/>
        <c:overlap val="-27"/>
        <c:axId val="1945394592"/>
        <c:axId val="1945396240"/>
      </c:barChart>
      <c:catAx>
        <c:axId val="19453945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945396240"/>
        <c:crosses val="autoZero"/>
        <c:auto val="1"/>
        <c:lblAlgn val="ctr"/>
        <c:lblOffset val="100"/>
        <c:noMultiLvlLbl val="0"/>
      </c:catAx>
      <c:valAx>
        <c:axId val="1945396240"/>
        <c:scaling>
          <c:orientation val="minMax"/>
          <c:min val="0.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bg1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L"/>
          </a:p>
        </c:txPr>
        <c:crossAx val="19453945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8D38E9-98DE-414D-8FDD-FDA58713EA38}" type="datetimeFigureOut">
              <a:rPr lang="LID4096" smtClean="0"/>
              <a:t>12/18/2025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C5888-2359-4DC7-9E6B-B00E136BF9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12452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E762D-6EE7-9D46-A70B-6D36578695F1}" type="datetimeFigureOut">
              <a:rPr lang="en-IL" smtClean="0"/>
              <a:t>12/18/2025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BD0F5-5313-7A4D-9BC5-F24D126A7E8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38664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E762D-6EE7-9D46-A70B-6D36578695F1}" type="datetimeFigureOut">
              <a:rPr lang="en-IL" smtClean="0"/>
              <a:t>12/18/2025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BD0F5-5313-7A4D-9BC5-F24D126A7E8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24436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E762D-6EE7-9D46-A70B-6D36578695F1}" type="datetimeFigureOut">
              <a:rPr lang="en-IL" smtClean="0"/>
              <a:t>12/18/2025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BD0F5-5313-7A4D-9BC5-F24D126A7E8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2559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E762D-6EE7-9D46-A70B-6D36578695F1}" type="datetimeFigureOut">
              <a:rPr lang="en-IL" smtClean="0"/>
              <a:t>12/18/2025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BD0F5-5313-7A4D-9BC5-F24D126A7E8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95309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E762D-6EE7-9D46-A70B-6D36578695F1}" type="datetimeFigureOut">
              <a:rPr lang="en-IL" smtClean="0"/>
              <a:t>12/18/2025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BD0F5-5313-7A4D-9BC5-F24D126A7E8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60203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E762D-6EE7-9D46-A70B-6D36578695F1}" type="datetimeFigureOut">
              <a:rPr lang="en-IL" smtClean="0"/>
              <a:t>12/18/2025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BD0F5-5313-7A4D-9BC5-F24D126A7E8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00160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E762D-6EE7-9D46-A70B-6D36578695F1}" type="datetimeFigureOut">
              <a:rPr lang="en-IL" smtClean="0"/>
              <a:t>12/18/2025</a:t>
            </a:fld>
            <a:endParaRPr lang="en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BD0F5-5313-7A4D-9BC5-F24D126A7E8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41078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E762D-6EE7-9D46-A70B-6D36578695F1}" type="datetimeFigureOut">
              <a:rPr lang="en-IL" smtClean="0"/>
              <a:t>12/18/2025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BD0F5-5313-7A4D-9BC5-F24D126A7E8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06464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E762D-6EE7-9D46-A70B-6D36578695F1}" type="datetimeFigureOut">
              <a:rPr lang="en-IL" smtClean="0"/>
              <a:t>12/18/2025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BD0F5-5313-7A4D-9BC5-F24D126A7E8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85256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E762D-6EE7-9D46-A70B-6D36578695F1}" type="datetimeFigureOut">
              <a:rPr lang="en-IL" smtClean="0"/>
              <a:t>12/18/2025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BD0F5-5313-7A4D-9BC5-F24D126A7E8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78289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E762D-6EE7-9D46-A70B-6D36578695F1}" type="datetimeFigureOut">
              <a:rPr lang="en-IL" smtClean="0"/>
              <a:t>12/18/2025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BD0F5-5313-7A4D-9BC5-F24D126A7E8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12351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6736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1E762D-6EE7-9D46-A70B-6D36578695F1}" type="datetimeFigureOut">
              <a:rPr lang="en-IL" smtClean="0"/>
              <a:t>12/18/2025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8BD0F5-5313-7A4D-9BC5-F24D126A7E8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4193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tif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4213408"/>
            <a:ext cx="61722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00" b="1" dirty="0">
                <a:solidFill>
                  <a:srgbClr val="333333"/>
                </a:solidFill>
              </a:rPr>
              <a:t>OTRec Two‑Tower Architecture</a:t>
            </a:r>
            <a:endParaRPr lang="en-US" sz="1500" dirty="0"/>
          </a:p>
          <a:p>
            <a:pPr algn="ctr"/>
            <a:r>
              <a:rPr lang="en-US" sz="900" i="1" dirty="0">
                <a:solidFill>
                  <a:srgbClr val="666666"/>
                </a:solidFill>
              </a:rPr>
              <a:t>Disease–Target Recommendation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205740" y="4714042"/>
            <a:ext cx="2634406" cy="822960"/>
          </a:xfrm>
          <a:prstGeom prst="roundRect">
            <a:avLst>
              <a:gd name="adj" fmla="val 4167"/>
            </a:avLst>
          </a:prstGeom>
          <a:solidFill>
            <a:srgbClr val="EEF7FE"/>
          </a:solidFill>
          <a:ln w="12700">
            <a:solidFill>
              <a:srgbClr val="2A8BF2"/>
            </a:solidFill>
            <a:prstDash val="solid"/>
          </a:ln>
        </p:spPr>
        <p:txBody>
          <a:bodyPr/>
          <a:lstStyle/>
          <a:p>
            <a:endParaRPr sz="1350"/>
          </a:p>
        </p:txBody>
      </p:sp>
      <p:sp>
        <p:nvSpPr>
          <p:cNvPr id="4" name="Text 2"/>
          <p:cNvSpPr/>
          <p:nvPr/>
        </p:nvSpPr>
        <p:spPr>
          <a:xfrm>
            <a:off x="274320" y="4748332"/>
            <a:ext cx="281178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2A8BF2"/>
                </a:solidFill>
              </a:rPr>
              <a:t>Disease Inputs</a:t>
            </a:r>
            <a:endParaRPr lang="en-US" sz="1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" y="4940356"/>
            <a:ext cx="150876" cy="1508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0060" y="4940356"/>
            <a:ext cx="2606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333333"/>
                </a:solidFill>
              </a:rPr>
              <a:t>Name &amp; description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480060" y="5094661"/>
            <a:ext cx="2606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333333"/>
                </a:solidFill>
              </a:rPr>
              <a:t>Exact synonyms</a:t>
            </a:r>
            <a:endParaRPr lang="en-US" sz="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" y="5152954"/>
            <a:ext cx="150876" cy="1508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0060" y="5248966"/>
            <a:ext cx="2606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333333"/>
                </a:solidFill>
              </a:rPr>
              <a:t>Ontology parents (EFO)</a:t>
            </a:r>
            <a:endParaRPr lang="en-US" sz="7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" y="5358694"/>
            <a:ext cx="150876" cy="15087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80060" y="5403271"/>
            <a:ext cx="2606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333333"/>
                </a:solidFill>
              </a:rPr>
              <a:t>ID embedding (64‑dim)</a:t>
            </a:r>
            <a:endParaRPr lang="en-US" sz="750" dirty="0"/>
          </a:p>
        </p:txBody>
      </p:sp>
      <p:sp>
        <p:nvSpPr>
          <p:cNvPr id="13" name="Shape 7"/>
          <p:cNvSpPr/>
          <p:nvPr/>
        </p:nvSpPr>
        <p:spPr>
          <a:xfrm>
            <a:off x="1594485" y="5550718"/>
            <a:ext cx="171450" cy="75438"/>
          </a:xfrm>
          <a:prstGeom prst="downArrow">
            <a:avLst/>
          </a:prstGeom>
          <a:solidFill>
            <a:srgbClr val="2A8BF2"/>
          </a:solidFill>
          <a:ln w="12700">
            <a:solidFill>
              <a:srgbClr val="2A8BF2"/>
            </a:solidFill>
            <a:prstDash val="solid"/>
          </a:ln>
        </p:spPr>
        <p:txBody>
          <a:bodyPr/>
          <a:lstStyle/>
          <a:p>
            <a:endParaRPr sz="1350"/>
          </a:p>
        </p:txBody>
      </p:sp>
      <p:sp>
        <p:nvSpPr>
          <p:cNvPr id="14" name="Shape 8"/>
          <p:cNvSpPr/>
          <p:nvPr/>
        </p:nvSpPr>
        <p:spPr>
          <a:xfrm>
            <a:off x="205740" y="5647052"/>
            <a:ext cx="2606040" cy="480060"/>
          </a:xfrm>
          <a:prstGeom prst="roundRect">
            <a:avLst>
              <a:gd name="adj" fmla="val 7143"/>
            </a:avLst>
          </a:prstGeom>
          <a:solidFill>
            <a:srgbClr val="DBEAFD"/>
          </a:solidFill>
          <a:ln w="12700">
            <a:solidFill>
              <a:srgbClr val="2A8BF2"/>
            </a:solidFill>
            <a:prstDash val="solid"/>
          </a:ln>
        </p:spPr>
        <p:txBody>
          <a:bodyPr/>
          <a:lstStyle/>
          <a:p>
            <a:endParaRPr sz="1350"/>
          </a:p>
        </p:txBody>
      </p:sp>
      <p:sp>
        <p:nvSpPr>
          <p:cNvPr id="15" name="Text 9"/>
          <p:cNvSpPr/>
          <p:nvPr/>
        </p:nvSpPr>
        <p:spPr>
          <a:xfrm>
            <a:off x="274320" y="5674162"/>
            <a:ext cx="28117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75" b="1" dirty="0">
                <a:solidFill>
                  <a:srgbClr val="2A8BF2"/>
                </a:solidFill>
              </a:rPr>
              <a:t>Feature Encoding</a:t>
            </a:r>
            <a:endParaRPr lang="en-US" sz="975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036" y="5879902"/>
            <a:ext cx="137160" cy="1371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80060" y="5866186"/>
            <a:ext cx="2606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dirty="0">
                <a:solidFill>
                  <a:srgbClr val="333333"/>
                </a:solidFill>
              </a:rPr>
              <a:t>Text vectorisation &amp; counts</a:t>
            </a:r>
            <a:endParaRPr lang="en-US" sz="713" dirty="0"/>
          </a:p>
        </p:txBody>
      </p:sp>
      <p:sp>
        <p:nvSpPr>
          <p:cNvPr id="19" name="Text 11"/>
          <p:cNvSpPr/>
          <p:nvPr/>
        </p:nvSpPr>
        <p:spPr>
          <a:xfrm>
            <a:off x="480061" y="6003346"/>
            <a:ext cx="160606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dirty="0">
                <a:solidFill>
                  <a:srgbClr val="333333"/>
                </a:solidFill>
              </a:rPr>
              <a:t>Concatenate Disease ID embedding</a:t>
            </a:r>
            <a:endParaRPr lang="en-US" sz="713" dirty="0"/>
          </a:p>
        </p:txBody>
      </p:sp>
      <p:sp>
        <p:nvSpPr>
          <p:cNvPr id="20" name="Shape 12"/>
          <p:cNvSpPr/>
          <p:nvPr/>
        </p:nvSpPr>
        <p:spPr>
          <a:xfrm>
            <a:off x="1594485" y="6133648"/>
            <a:ext cx="171450" cy="75438"/>
          </a:xfrm>
          <a:prstGeom prst="downArrow">
            <a:avLst/>
          </a:prstGeom>
          <a:solidFill>
            <a:srgbClr val="2A8BF2"/>
          </a:solidFill>
          <a:ln w="12700">
            <a:solidFill>
              <a:srgbClr val="2A8BF2"/>
            </a:solidFill>
            <a:prstDash val="solid"/>
          </a:ln>
        </p:spPr>
        <p:txBody>
          <a:bodyPr/>
          <a:lstStyle/>
          <a:p>
            <a:endParaRPr sz="1350"/>
          </a:p>
        </p:txBody>
      </p:sp>
      <p:sp>
        <p:nvSpPr>
          <p:cNvPr id="21" name="Shape 13"/>
          <p:cNvSpPr/>
          <p:nvPr/>
        </p:nvSpPr>
        <p:spPr>
          <a:xfrm>
            <a:off x="205740" y="6222802"/>
            <a:ext cx="2606040" cy="672084"/>
          </a:xfrm>
          <a:prstGeom prst="roundRect">
            <a:avLst>
              <a:gd name="adj" fmla="val 5556"/>
            </a:avLst>
          </a:prstGeom>
          <a:solidFill>
            <a:srgbClr val="CDE2FC"/>
          </a:solidFill>
          <a:ln w="12700">
            <a:solidFill>
              <a:srgbClr val="2A8BF2"/>
            </a:solidFill>
            <a:prstDash val="solid"/>
          </a:ln>
        </p:spPr>
        <p:txBody>
          <a:bodyPr/>
          <a:lstStyle/>
          <a:p>
            <a:endParaRPr sz="1350"/>
          </a:p>
        </p:txBody>
      </p:sp>
      <p:sp>
        <p:nvSpPr>
          <p:cNvPr id="22" name="Text 14"/>
          <p:cNvSpPr/>
          <p:nvPr/>
        </p:nvSpPr>
        <p:spPr>
          <a:xfrm>
            <a:off x="274320" y="6257092"/>
            <a:ext cx="28117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75" b="1" dirty="0">
                <a:solidFill>
                  <a:srgbClr val="2A8BF2"/>
                </a:solidFill>
              </a:rPr>
              <a:t>Tower (Wide &amp; Deep)</a:t>
            </a:r>
            <a:endParaRPr lang="en-US" sz="975" dirty="0"/>
          </a:p>
        </p:txBody>
      </p:sp>
      <p:sp>
        <p:nvSpPr>
          <p:cNvPr id="24" name="Text 15"/>
          <p:cNvSpPr/>
          <p:nvPr/>
        </p:nvSpPr>
        <p:spPr>
          <a:xfrm>
            <a:off x="480060" y="6449116"/>
            <a:ext cx="225628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dirty="0">
                <a:solidFill>
                  <a:srgbClr val="333333"/>
                </a:solidFill>
              </a:rPr>
              <a:t>Wide: Dense 384 (Linear)</a:t>
            </a:r>
            <a:endParaRPr lang="en-US" sz="713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6534841"/>
            <a:ext cx="150876" cy="150876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480060" y="6586276"/>
            <a:ext cx="2606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dirty="0">
                <a:solidFill>
                  <a:srgbClr val="333333"/>
                </a:solidFill>
              </a:rPr>
              <a:t>Deep: 384→LayerNorm→Dropout→64→ Dropout →384</a:t>
            </a:r>
            <a:endParaRPr lang="en-US" sz="713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8036" y="6723436"/>
            <a:ext cx="150876" cy="150876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480060" y="6723436"/>
            <a:ext cx="2606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dirty="0">
                <a:solidFill>
                  <a:srgbClr val="333333"/>
                </a:solidFill>
              </a:rPr>
              <a:t>Residual Add → 384‑dim embedding</a:t>
            </a:r>
            <a:endParaRPr lang="en-US" sz="713" dirty="0"/>
          </a:p>
        </p:txBody>
      </p:sp>
      <p:sp>
        <p:nvSpPr>
          <p:cNvPr id="29" name="Shape 18"/>
          <p:cNvSpPr/>
          <p:nvPr/>
        </p:nvSpPr>
        <p:spPr>
          <a:xfrm>
            <a:off x="3861303" y="4714042"/>
            <a:ext cx="2468880" cy="822960"/>
          </a:xfrm>
          <a:prstGeom prst="roundRect">
            <a:avLst>
              <a:gd name="adj" fmla="val 4167"/>
            </a:avLst>
          </a:prstGeom>
          <a:solidFill>
            <a:srgbClr val="EFFBF0"/>
          </a:solidFill>
          <a:ln w="12700">
            <a:solidFill>
              <a:srgbClr val="2BAE66"/>
            </a:solidFill>
            <a:prstDash val="solid"/>
          </a:ln>
        </p:spPr>
        <p:txBody>
          <a:bodyPr/>
          <a:lstStyle/>
          <a:p>
            <a:endParaRPr sz="1350"/>
          </a:p>
        </p:txBody>
      </p:sp>
      <p:sp>
        <p:nvSpPr>
          <p:cNvPr id="30" name="Text 19"/>
          <p:cNvSpPr/>
          <p:nvPr/>
        </p:nvSpPr>
        <p:spPr>
          <a:xfrm>
            <a:off x="3929883" y="4748332"/>
            <a:ext cx="281178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2BAE66"/>
                </a:solidFill>
              </a:rPr>
              <a:t>Target Inputs</a:t>
            </a:r>
            <a:endParaRPr lang="en-US" sz="105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43599" y="4940356"/>
            <a:ext cx="150876" cy="150876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4135623" y="4940356"/>
            <a:ext cx="2606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333333"/>
                </a:solidFill>
              </a:rPr>
              <a:t>Gene symbol &amp; description</a:t>
            </a:r>
            <a:endParaRPr lang="en-US" sz="750" dirty="0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43599" y="5094661"/>
            <a:ext cx="150876" cy="150876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4135623" y="5094661"/>
            <a:ext cx="2606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333333"/>
                </a:solidFill>
              </a:rPr>
              <a:t>GO terms (MF/BP)</a:t>
            </a:r>
            <a:endParaRPr lang="en-US" sz="750" dirty="0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43599" y="5248966"/>
            <a:ext cx="150876" cy="150876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4135623" y="5248966"/>
            <a:ext cx="2606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333333"/>
                </a:solidFill>
              </a:rPr>
              <a:t>Pathway annotations</a:t>
            </a:r>
            <a:endParaRPr lang="en-US" sz="75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43599" y="5403271"/>
            <a:ext cx="150876" cy="150876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4135623" y="5403271"/>
            <a:ext cx="2606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333333"/>
                </a:solidFill>
              </a:rPr>
              <a:t>Tractability buckets</a:t>
            </a:r>
            <a:endParaRPr lang="en-US" sz="750" dirty="0"/>
          </a:p>
        </p:txBody>
      </p:sp>
      <p:sp>
        <p:nvSpPr>
          <p:cNvPr id="39" name="Shape 24"/>
          <p:cNvSpPr/>
          <p:nvPr/>
        </p:nvSpPr>
        <p:spPr>
          <a:xfrm>
            <a:off x="5250048" y="5550718"/>
            <a:ext cx="171450" cy="75438"/>
          </a:xfrm>
          <a:prstGeom prst="downArrow">
            <a:avLst/>
          </a:prstGeom>
          <a:solidFill>
            <a:srgbClr val="2BAE66"/>
          </a:solidFill>
          <a:ln w="12700">
            <a:solidFill>
              <a:srgbClr val="2BAE66"/>
            </a:solidFill>
            <a:prstDash val="solid"/>
          </a:ln>
        </p:spPr>
        <p:txBody>
          <a:bodyPr/>
          <a:lstStyle/>
          <a:p>
            <a:endParaRPr sz="1350"/>
          </a:p>
        </p:txBody>
      </p:sp>
      <p:sp>
        <p:nvSpPr>
          <p:cNvPr id="40" name="Shape 25"/>
          <p:cNvSpPr/>
          <p:nvPr/>
        </p:nvSpPr>
        <p:spPr>
          <a:xfrm>
            <a:off x="3861303" y="5639872"/>
            <a:ext cx="2468880" cy="432054"/>
          </a:xfrm>
          <a:prstGeom prst="roundRect">
            <a:avLst>
              <a:gd name="adj" fmla="val 7143"/>
            </a:avLst>
          </a:prstGeom>
          <a:solidFill>
            <a:srgbClr val="E7F4E9"/>
          </a:solidFill>
          <a:ln w="12700">
            <a:solidFill>
              <a:srgbClr val="2BAE66"/>
            </a:solidFill>
            <a:prstDash val="solid"/>
          </a:ln>
        </p:spPr>
        <p:txBody>
          <a:bodyPr/>
          <a:lstStyle/>
          <a:p>
            <a:endParaRPr sz="1350"/>
          </a:p>
        </p:txBody>
      </p:sp>
      <p:sp>
        <p:nvSpPr>
          <p:cNvPr id="41" name="Text 26"/>
          <p:cNvSpPr/>
          <p:nvPr/>
        </p:nvSpPr>
        <p:spPr>
          <a:xfrm>
            <a:off x="3929883" y="5674162"/>
            <a:ext cx="28117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75" b="1" dirty="0">
                <a:solidFill>
                  <a:srgbClr val="2BAE66"/>
                </a:solidFill>
              </a:rPr>
              <a:t>Feature Encoding</a:t>
            </a:r>
            <a:endParaRPr lang="en-US" sz="975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43599" y="5866186"/>
            <a:ext cx="150876" cy="150876"/>
          </a:xfrm>
          <a:prstGeom prst="rect">
            <a:avLst/>
          </a:prstGeom>
        </p:spPr>
      </p:pic>
      <p:sp>
        <p:nvSpPr>
          <p:cNvPr id="43" name="Text 27"/>
          <p:cNvSpPr/>
          <p:nvPr/>
        </p:nvSpPr>
        <p:spPr>
          <a:xfrm>
            <a:off x="4135623" y="5866186"/>
            <a:ext cx="2606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dirty="0">
                <a:solidFill>
                  <a:srgbClr val="333333"/>
                </a:solidFill>
              </a:rPr>
              <a:t>Text vectorisation &amp; counts</a:t>
            </a:r>
            <a:endParaRPr lang="en-US" sz="713" dirty="0"/>
          </a:p>
        </p:txBody>
      </p:sp>
      <p:sp>
        <p:nvSpPr>
          <p:cNvPr id="45" name="Text 28"/>
          <p:cNvSpPr/>
          <p:nvPr/>
        </p:nvSpPr>
        <p:spPr>
          <a:xfrm>
            <a:off x="4135623" y="6003346"/>
            <a:ext cx="2606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713" dirty="0"/>
          </a:p>
        </p:txBody>
      </p:sp>
      <p:sp>
        <p:nvSpPr>
          <p:cNvPr id="46" name="Shape 29"/>
          <p:cNvSpPr/>
          <p:nvPr/>
        </p:nvSpPr>
        <p:spPr>
          <a:xfrm>
            <a:off x="5250048" y="6133648"/>
            <a:ext cx="171450" cy="75438"/>
          </a:xfrm>
          <a:prstGeom prst="downArrow">
            <a:avLst/>
          </a:prstGeom>
          <a:solidFill>
            <a:srgbClr val="2BAE66"/>
          </a:solidFill>
          <a:ln w="12700">
            <a:solidFill>
              <a:srgbClr val="2BAE66"/>
            </a:solidFill>
            <a:prstDash val="solid"/>
          </a:ln>
        </p:spPr>
        <p:txBody>
          <a:bodyPr/>
          <a:lstStyle/>
          <a:p>
            <a:endParaRPr sz="1350"/>
          </a:p>
        </p:txBody>
      </p:sp>
      <p:sp>
        <p:nvSpPr>
          <p:cNvPr id="47" name="Shape 30"/>
          <p:cNvSpPr/>
          <p:nvPr/>
        </p:nvSpPr>
        <p:spPr>
          <a:xfrm>
            <a:off x="3861303" y="6222802"/>
            <a:ext cx="2468880" cy="651510"/>
          </a:xfrm>
          <a:prstGeom prst="roundRect">
            <a:avLst>
              <a:gd name="adj" fmla="val 5556"/>
            </a:avLst>
          </a:prstGeom>
          <a:solidFill>
            <a:srgbClr val="D4F5D8"/>
          </a:solidFill>
          <a:ln w="12700">
            <a:solidFill>
              <a:srgbClr val="2BAE66"/>
            </a:solidFill>
            <a:prstDash val="solid"/>
          </a:ln>
        </p:spPr>
        <p:txBody>
          <a:bodyPr/>
          <a:lstStyle/>
          <a:p>
            <a:endParaRPr sz="1350"/>
          </a:p>
        </p:txBody>
      </p:sp>
      <p:sp>
        <p:nvSpPr>
          <p:cNvPr id="48" name="Text 31"/>
          <p:cNvSpPr/>
          <p:nvPr/>
        </p:nvSpPr>
        <p:spPr>
          <a:xfrm>
            <a:off x="3929883" y="6257092"/>
            <a:ext cx="28117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75" b="1" dirty="0">
                <a:solidFill>
                  <a:srgbClr val="2BAE66"/>
                </a:solidFill>
              </a:rPr>
              <a:t>Tower (Wide &amp; Deep)</a:t>
            </a:r>
            <a:endParaRPr lang="en-US" sz="975" dirty="0"/>
          </a:p>
        </p:txBody>
      </p:sp>
      <p:sp>
        <p:nvSpPr>
          <p:cNvPr id="50" name="Text 32"/>
          <p:cNvSpPr/>
          <p:nvPr/>
        </p:nvSpPr>
        <p:spPr>
          <a:xfrm>
            <a:off x="4135623" y="6449116"/>
            <a:ext cx="2606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dirty="0">
                <a:solidFill>
                  <a:srgbClr val="333333"/>
                </a:solidFill>
              </a:rPr>
              <a:t>Wide: Dense 384 (Linear)</a:t>
            </a:r>
            <a:endParaRPr lang="en-US" sz="713" dirty="0"/>
          </a:p>
        </p:txBody>
      </p:sp>
      <p:pic>
        <p:nvPicPr>
          <p:cNvPr id="51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43599" y="6524554"/>
            <a:ext cx="150876" cy="150876"/>
          </a:xfrm>
          <a:prstGeom prst="rect">
            <a:avLst/>
          </a:prstGeom>
        </p:spPr>
      </p:pic>
      <p:sp>
        <p:nvSpPr>
          <p:cNvPr id="52" name="Text 33"/>
          <p:cNvSpPr/>
          <p:nvPr/>
        </p:nvSpPr>
        <p:spPr>
          <a:xfrm>
            <a:off x="4135623" y="6586276"/>
            <a:ext cx="2606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dirty="0">
                <a:solidFill>
                  <a:srgbClr val="333333"/>
                </a:solidFill>
              </a:rPr>
              <a:t>Deep: 384→LayerNorm→Dropout→64→ Dropout →384</a:t>
            </a:r>
            <a:endParaRPr lang="en-US" sz="713" dirty="0"/>
          </a:p>
        </p:txBody>
      </p:sp>
      <p:pic>
        <p:nvPicPr>
          <p:cNvPr id="53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43599" y="6723436"/>
            <a:ext cx="150876" cy="150876"/>
          </a:xfrm>
          <a:prstGeom prst="rect">
            <a:avLst/>
          </a:prstGeom>
        </p:spPr>
      </p:pic>
      <p:sp>
        <p:nvSpPr>
          <p:cNvPr id="54" name="Text 34"/>
          <p:cNvSpPr/>
          <p:nvPr/>
        </p:nvSpPr>
        <p:spPr>
          <a:xfrm>
            <a:off x="4135623" y="6723436"/>
            <a:ext cx="2606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dirty="0">
                <a:solidFill>
                  <a:srgbClr val="333333"/>
                </a:solidFill>
              </a:rPr>
              <a:t>Residual Add → 384‑dim embedding</a:t>
            </a:r>
            <a:endParaRPr lang="en-US" sz="713" dirty="0"/>
          </a:p>
        </p:txBody>
      </p:sp>
      <p:sp>
        <p:nvSpPr>
          <p:cNvPr id="55" name="Shape 35"/>
          <p:cNvSpPr/>
          <p:nvPr/>
        </p:nvSpPr>
        <p:spPr>
          <a:xfrm>
            <a:off x="2935473" y="6399478"/>
            <a:ext cx="836429" cy="484394"/>
          </a:xfrm>
          <a:prstGeom prst="ellipse">
            <a:avLst/>
          </a:prstGeom>
          <a:solidFill>
            <a:srgbClr val="F3E5F5"/>
          </a:solidFill>
          <a:ln w="12700">
            <a:solidFill>
              <a:srgbClr val="9C27B0"/>
            </a:solidFill>
            <a:prstDash val="solid"/>
          </a:ln>
        </p:spPr>
        <p:txBody>
          <a:bodyPr/>
          <a:lstStyle/>
          <a:p>
            <a:pPr algn="ctr"/>
            <a:r>
              <a:rPr lang="en-US" sz="675" b="1" dirty="0">
                <a:solidFill>
                  <a:srgbClr val="9C27B0"/>
                </a:solidFill>
              </a:rPr>
              <a:t>Dot Product</a:t>
            </a:r>
            <a:endParaRPr lang="en-US" sz="675" dirty="0"/>
          </a:p>
          <a:p>
            <a:pPr algn="ctr"/>
            <a:r>
              <a:rPr lang="en-US" sz="675" dirty="0">
                <a:solidFill>
                  <a:srgbClr val="9C27B0"/>
                </a:solidFill>
              </a:rPr>
              <a:t>(Cosine similarity)</a:t>
            </a:r>
            <a:endParaRPr lang="en-US" sz="675" dirty="0"/>
          </a:p>
        </p:txBody>
      </p:sp>
      <p:pic>
        <p:nvPicPr>
          <p:cNvPr id="56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317899" y="6417305"/>
            <a:ext cx="98759" cy="98759"/>
          </a:xfrm>
          <a:prstGeom prst="rect">
            <a:avLst/>
          </a:prstGeom>
        </p:spPr>
      </p:pic>
      <p:sp>
        <p:nvSpPr>
          <p:cNvPr id="57" name="Text 36"/>
          <p:cNvSpPr/>
          <p:nvPr/>
        </p:nvSpPr>
        <p:spPr>
          <a:xfrm>
            <a:off x="2907792" y="6774871"/>
            <a:ext cx="617220" cy="2537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endParaRPr lang="en-US" sz="750" dirty="0"/>
          </a:p>
        </p:txBody>
      </p:sp>
      <p:sp>
        <p:nvSpPr>
          <p:cNvPr id="58" name="Shape 37"/>
          <p:cNvSpPr/>
          <p:nvPr/>
        </p:nvSpPr>
        <p:spPr>
          <a:xfrm>
            <a:off x="2081116" y="7011472"/>
            <a:ext cx="2606040" cy="555498"/>
          </a:xfrm>
          <a:prstGeom prst="roundRect">
            <a:avLst>
              <a:gd name="adj" fmla="val 9091"/>
            </a:avLst>
          </a:prstGeom>
          <a:solidFill>
            <a:srgbClr val="F4F4F6"/>
          </a:solidFill>
          <a:ln w="12700">
            <a:solidFill>
              <a:srgbClr val="9C27B0"/>
            </a:solidFill>
            <a:prstDash val="solid"/>
          </a:ln>
        </p:spPr>
        <p:txBody>
          <a:bodyPr/>
          <a:lstStyle/>
          <a:p>
            <a:endParaRPr sz="1350"/>
          </a:p>
        </p:txBody>
      </p:sp>
      <p:sp>
        <p:nvSpPr>
          <p:cNvPr id="59" name="Text 38"/>
          <p:cNvSpPr/>
          <p:nvPr/>
        </p:nvSpPr>
        <p:spPr>
          <a:xfrm>
            <a:off x="2129212" y="7049356"/>
            <a:ext cx="2366189" cy="215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75" b="1" dirty="0">
                <a:solidFill>
                  <a:srgbClr val="9C27B0"/>
                </a:solidFill>
              </a:rPr>
              <a:t>Predicted Clinical Association</a:t>
            </a:r>
            <a:endParaRPr lang="en-US" sz="975" dirty="0"/>
          </a:p>
        </p:txBody>
      </p:sp>
      <p:sp>
        <p:nvSpPr>
          <p:cNvPr id="60" name="Text 39"/>
          <p:cNvSpPr/>
          <p:nvPr/>
        </p:nvSpPr>
        <p:spPr>
          <a:xfrm>
            <a:off x="2086124" y="7285792"/>
            <a:ext cx="252058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13" dirty="0">
                <a:solidFill>
                  <a:srgbClr val="333333"/>
                </a:solidFill>
              </a:rPr>
              <a:t>Sigmoid → Probability of clinical trial entry (0-1)</a:t>
            </a:r>
          </a:p>
          <a:p>
            <a:r>
              <a:rPr lang="en-US" sz="713" dirty="0">
                <a:solidFill>
                  <a:srgbClr val="333333"/>
                </a:solidFill>
              </a:rPr>
              <a:t>Linear → Open targets evidence score (auxiliary target)</a:t>
            </a:r>
            <a:endParaRPr lang="en-US" sz="713" dirty="0"/>
          </a:p>
        </p:txBody>
      </p:sp>
      <p:sp>
        <p:nvSpPr>
          <p:cNvPr id="61" name="Text 40"/>
          <p:cNvSpPr/>
          <p:nvPr/>
        </p:nvSpPr>
        <p:spPr>
          <a:xfrm>
            <a:off x="1920240" y="7573828"/>
            <a:ext cx="4594860" cy="123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713" dirty="0"/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6F35B4D1-CB48-5A7F-2FF9-8F4CEE747C12}"/>
              </a:ext>
            </a:extLst>
          </p:cNvPr>
          <p:cNvCxnSpPr>
            <a:cxnSpLocks/>
            <a:stCxn id="21" idx="3"/>
            <a:endCxn id="55" idx="2"/>
          </p:cNvCxnSpPr>
          <p:nvPr/>
        </p:nvCxnSpPr>
        <p:spPr>
          <a:xfrm>
            <a:off x="2811780" y="6558844"/>
            <a:ext cx="123693" cy="8283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08E50BEB-44BC-83A0-AABF-C8F1503A4EAC}"/>
              </a:ext>
            </a:extLst>
          </p:cNvPr>
          <p:cNvCxnSpPr>
            <a:cxnSpLocks/>
            <a:stCxn id="47" idx="1"/>
            <a:endCxn id="55" idx="6"/>
          </p:cNvCxnSpPr>
          <p:nvPr/>
        </p:nvCxnSpPr>
        <p:spPr>
          <a:xfrm rot="10800000" flipV="1">
            <a:off x="3771901" y="6548557"/>
            <a:ext cx="89402" cy="9311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Arrow: Down 22">
            <a:extLst>
              <a:ext uri="{FF2B5EF4-FFF2-40B4-BE49-F238E27FC236}">
                <a16:creationId xmlns:a16="http://schemas.microsoft.com/office/drawing/2014/main" id="{237A10F2-EE43-3C8A-FD20-2D9AD9B51EDC}"/>
              </a:ext>
            </a:extLst>
          </p:cNvPr>
          <p:cNvSpPr/>
          <p:nvPr/>
        </p:nvSpPr>
        <p:spPr>
          <a:xfrm>
            <a:off x="3305556" y="6898480"/>
            <a:ext cx="123444" cy="10956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3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2AA7198-2A69-B9CB-8442-EE86AFBE9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506" y="392811"/>
            <a:ext cx="56197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482C319-6A4A-786A-A19A-5D7EEE9EC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" y="4048125"/>
            <a:ext cx="6648450" cy="536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79F9C24-96D6-0C3E-C7C9-7DEC7F206B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9410700"/>
            <a:ext cx="6648450" cy="278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2219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FDCE4F-A634-CE4F-BCE0-9D4A5D5A9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264" y="5778770"/>
            <a:ext cx="5451102" cy="578759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42D8841-1E7F-5B58-AEA6-E39B7D5E3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58000" cy="386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057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03E39680-1B48-2D40-B60E-3330AA3D8383}"/>
              </a:ext>
            </a:extLst>
          </p:cNvPr>
          <p:cNvGrpSpPr/>
          <p:nvPr/>
        </p:nvGrpSpPr>
        <p:grpSpPr>
          <a:xfrm>
            <a:off x="76068" y="3730235"/>
            <a:ext cx="6781932" cy="5902863"/>
            <a:chOff x="135232" y="-776805"/>
            <a:chExt cx="6836381" cy="7249794"/>
          </a:xfrm>
        </p:grpSpPr>
        <p:graphicFrame>
          <p:nvGraphicFramePr>
            <p:cNvPr id="4" name="Chart 3">
              <a:extLst>
                <a:ext uri="{FF2B5EF4-FFF2-40B4-BE49-F238E27FC236}">
                  <a16:creationId xmlns:a16="http://schemas.microsoft.com/office/drawing/2014/main" id="{F399BC17-D057-4D4F-827F-C6AD31E16300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620863" y="3043989"/>
            <a:ext cx="2728191" cy="3429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aphicFrame>
          <p:nvGraphicFramePr>
            <p:cNvPr id="5" name="Chart 4">
              <a:extLst>
                <a:ext uri="{FF2B5EF4-FFF2-40B4-BE49-F238E27FC236}">
                  <a16:creationId xmlns:a16="http://schemas.microsoft.com/office/drawing/2014/main" id="{AC2C0322-0B06-2541-A61A-CD09D89FF16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062321" y="2967650"/>
            <a:ext cx="2789446" cy="345643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4F94056-511D-A64F-96AD-F888D5DF80B5}"/>
                </a:ext>
              </a:extLst>
            </p:cNvPr>
            <p:cNvSpPr txBox="1"/>
            <p:nvPr/>
          </p:nvSpPr>
          <p:spPr>
            <a:xfrm rot="16200000">
              <a:off x="-291801" y="3646068"/>
              <a:ext cx="1460736" cy="3488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L" sz="675" dirty="0"/>
                <a:t>Fraction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0A001B4-CB99-D846-9D66-81B9B40102B5}"/>
                </a:ext>
              </a:extLst>
            </p:cNvPr>
            <p:cNvSpPr txBox="1"/>
            <p:nvPr/>
          </p:nvSpPr>
          <p:spPr>
            <a:xfrm rot="16200000">
              <a:off x="3203824" y="3671359"/>
              <a:ext cx="1460736" cy="3488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L" sz="675" dirty="0"/>
                <a:t>Fraction</a:t>
              </a:r>
            </a:p>
          </p:txBody>
        </p:sp>
        <p:graphicFrame>
          <p:nvGraphicFramePr>
            <p:cNvPr id="8" name="Chart 7">
              <a:extLst>
                <a:ext uri="{FF2B5EF4-FFF2-40B4-BE49-F238E27FC236}">
                  <a16:creationId xmlns:a16="http://schemas.microsoft.com/office/drawing/2014/main" id="{90DB4630-2EFE-004F-AA0F-09A731440EE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16678" y="-776805"/>
            <a:ext cx="3144669" cy="40133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7A9FAFB-5FB8-AE48-B90D-D8BDE87968D8}"/>
                </a:ext>
              </a:extLst>
            </p:cNvPr>
            <p:cNvSpPr txBox="1"/>
            <p:nvPr/>
          </p:nvSpPr>
          <p:spPr>
            <a:xfrm rot="16200000">
              <a:off x="-379092" y="325072"/>
              <a:ext cx="1460736" cy="3488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L" sz="675" dirty="0"/>
                <a:t>Fraction</a:t>
              </a:r>
            </a:p>
          </p:txBody>
        </p:sp>
        <p:graphicFrame>
          <p:nvGraphicFramePr>
            <p:cNvPr id="12" name="Chart 11">
              <a:extLst>
                <a:ext uri="{FF2B5EF4-FFF2-40B4-BE49-F238E27FC236}">
                  <a16:creationId xmlns:a16="http://schemas.microsoft.com/office/drawing/2014/main" id="{11827C86-A2E3-4542-BE32-FAA096A0D4C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972932" y="-763805"/>
            <a:ext cx="2998681" cy="40133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77864EA-3A80-8C4F-8FF7-61E515B7FF27}"/>
                </a:ext>
              </a:extLst>
            </p:cNvPr>
            <p:cNvSpPr txBox="1"/>
            <p:nvPr/>
          </p:nvSpPr>
          <p:spPr>
            <a:xfrm rot="16200000">
              <a:off x="3185584" y="338070"/>
              <a:ext cx="1460736" cy="3488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L" sz="675" dirty="0"/>
                <a:t>Fraction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CEE0F33-3406-B747-BE0A-C6CD1E28D18E}"/>
                </a:ext>
              </a:extLst>
            </p:cNvPr>
            <p:cNvSpPr txBox="1"/>
            <p:nvPr/>
          </p:nvSpPr>
          <p:spPr>
            <a:xfrm>
              <a:off x="135232" y="-639347"/>
              <a:ext cx="709090" cy="441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L" sz="1013" dirty="0"/>
                <a:t>A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34D3EAF-E5F1-3F4D-B8AC-2AC159BAE6EF}"/>
                </a:ext>
              </a:extLst>
            </p:cNvPr>
            <p:cNvSpPr txBox="1"/>
            <p:nvPr/>
          </p:nvSpPr>
          <p:spPr>
            <a:xfrm>
              <a:off x="3650057" y="2967650"/>
              <a:ext cx="709090" cy="441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L" sz="1013" dirty="0"/>
                <a:t>D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FB289D5-56FF-3849-9CF5-8AF07231843E}"/>
                </a:ext>
              </a:extLst>
            </p:cNvPr>
            <p:cNvSpPr txBox="1"/>
            <p:nvPr/>
          </p:nvSpPr>
          <p:spPr>
            <a:xfrm>
              <a:off x="212777" y="2988939"/>
              <a:ext cx="709090" cy="441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L" sz="1013" dirty="0"/>
                <a:t>C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DA69CCC-0117-5A4C-8947-90FE1BC7B25D}"/>
                </a:ext>
              </a:extLst>
            </p:cNvPr>
            <p:cNvSpPr txBox="1"/>
            <p:nvPr/>
          </p:nvSpPr>
          <p:spPr>
            <a:xfrm>
              <a:off x="3769903" y="-612513"/>
              <a:ext cx="709090" cy="441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L" sz="1013" dirty="0"/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7606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</TotalTime>
  <Words>169</Words>
  <Application>Microsoft Office PowerPoint</Application>
  <PresentationFormat>Widescreen</PresentationFormat>
  <Paragraphs>43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Michal Linial</dc:creator>
  <cp:lastModifiedBy>Dan Ofer</cp:lastModifiedBy>
  <cp:revision>5</cp:revision>
  <dcterms:created xsi:type="dcterms:W3CDTF">2025-12-14T17:55:15Z</dcterms:created>
  <dcterms:modified xsi:type="dcterms:W3CDTF">2025-12-18T12:10:08Z</dcterms:modified>
</cp:coreProperties>
</file>