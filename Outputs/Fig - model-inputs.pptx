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88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38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</a:rPr>
              <a:t>OTRec Two‑Tower Architecture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</a:rPr>
              <a:t>Deep Learning for Disease–Target Association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3512541" cy="1097280"/>
          </a:xfrm>
          <a:prstGeom prst="roundRect">
            <a:avLst>
              <a:gd name="adj" fmla="val 4167"/>
            </a:avLst>
          </a:prstGeom>
          <a:solidFill>
            <a:srgbClr val="EEF7FE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8BF2"/>
                </a:solidFill>
              </a:rPr>
              <a:t>Disease Inputs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332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033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Name &amp; description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40080" y="12390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Exact synonyms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1673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1444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Ontology parents (EFO)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591056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" y="16504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ID embedding (64‑dim)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2125980" y="1847088"/>
            <a:ext cx="228600" cy="100584"/>
          </a:xfrm>
          <a:prstGeom prst="downArrow">
            <a:avLst/>
          </a:prstGeom>
          <a:solidFill>
            <a:srgbClr val="2A8BF2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8"/>
          <p:cNvSpPr/>
          <p:nvPr/>
        </p:nvSpPr>
        <p:spPr>
          <a:xfrm>
            <a:off x="274320" y="1975534"/>
            <a:ext cx="3474720" cy="640080"/>
          </a:xfrm>
          <a:prstGeom prst="roundRect">
            <a:avLst>
              <a:gd name="adj" fmla="val 7143"/>
            </a:avLst>
          </a:prstGeom>
          <a:solidFill>
            <a:srgbClr val="DBEAFD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9"/>
          <p:cNvSpPr/>
          <p:nvPr/>
        </p:nvSpPr>
        <p:spPr>
          <a:xfrm>
            <a:off x="36576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8BF2"/>
                </a:solidFill>
              </a:rPr>
              <a:t>Feature Encoding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28600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0080" y="2267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Text vectorisation &amp; counts</a:t>
            </a:r>
            <a:endParaRPr lang="en-US" sz="950" dirty="0"/>
          </a:p>
        </p:txBody>
      </p:sp>
      <p:sp>
        <p:nvSpPr>
          <p:cNvPr id="19" name="Text 11"/>
          <p:cNvSpPr/>
          <p:nvPr/>
        </p:nvSpPr>
        <p:spPr>
          <a:xfrm>
            <a:off x="640080" y="2450592"/>
            <a:ext cx="21414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Concatenate Disease ID embedding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2125980" y="2624328"/>
            <a:ext cx="228600" cy="100584"/>
          </a:xfrm>
          <a:prstGeom prst="downArrow">
            <a:avLst/>
          </a:prstGeom>
          <a:solidFill>
            <a:srgbClr val="2A8BF2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3"/>
          <p:cNvSpPr/>
          <p:nvPr/>
        </p:nvSpPr>
        <p:spPr>
          <a:xfrm>
            <a:off x="274320" y="2743200"/>
            <a:ext cx="3474720" cy="896112"/>
          </a:xfrm>
          <a:prstGeom prst="roundRect">
            <a:avLst>
              <a:gd name="adj" fmla="val 5556"/>
            </a:avLst>
          </a:prstGeom>
          <a:solidFill>
            <a:srgbClr val="CDE2FC"/>
          </a:solidFill>
          <a:ln w="12700">
            <a:solidFill>
              <a:srgbClr val="2A8B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4"/>
          <p:cNvSpPr/>
          <p:nvPr/>
        </p:nvSpPr>
        <p:spPr>
          <a:xfrm>
            <a:off x="365760" y="2788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8BF2"/>
                </a:solidFill>
              </a:rPr>
              <a:t>Tower (Wide &amp; Deep)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640080" y="304495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Wide: Dense 384 (Linear)</a:t>
            </a:r>
            <a:endParaRPr lang="en-US" sz="9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159252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40080" y="3227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333333"/>
                </a:solidFill>
              </a:rPr>
              <a:t>Deep: 384→LayerNorm→Dropout→64→ Dropout →384</a:t>
            </a:r>
            <a:endParaRPr lang="en-US" sz="9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410712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40080" y="3410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Residual Add → 384‑dim embedding</a:t>
            </a:r>
            <a:endParaRPr lang="en-US" sz="950" dirty="0"/>
          </a:p>
        </p:txBody>
      </p:sp>
      <p:sp>
        <p:nvSpPr>
          <p:cNvPr id="29" name="Shape 18"/>
          <p:cNvSpPr/>
          <p:nvPr/>
        </p:nvSpPr>
        <p:spPr>
          <a:xfrm>
            <a:off x="5148404" y="731520"/>
            <a:ext cx="3291840" cy="1097280"/>
          </a:xfrm>
          <a:prstGeom prst="roundRect">
            <a:avLst>
              <a:gd name="adj" fmla="val 4167"/>
            </a:avLst>
          </a:prstGeom>
          <a:solidFill>
            <a:srgbClr val="EFFBF0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19"/>
          <p:cNvSpPr/>
          <p:nvPr/>
        </p:nvSpPr>
        <p:spPr>
          <a:xfrm>
            <a:off x="5239844" y="777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AE66"/>
                </a:solidFill>
              </a:rPr>
              <a:t>Target Inputs</a:t>
            </a:r>
            <a:endParaRPr lang="en-US" sz="14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8132" y="1033272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514164" y="1033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Gene symbol &amp; description</a:t>
            </a:r>
            <a:endParaRPr lang="en-US" sz="10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8132" y="1239012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514164" y="12390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GO terms (MF/BP)</a:t>
            </a:r>
            <a:endParaRPr lang="en-US" sz="10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58132" y="1444752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514164" y="1444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Pathway annotations</a:t>
            </a:r>
            <a:endParaRPr lang="en-US" sz="10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8132" y="1650492"/>
            <a:ext cx="201168" cy="20116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514164" y="16504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Tractability buckets</a:t>
            </a:r>
            <a:endParaRPr lang="en-US" sz="1000" dirty="0"/>
          </a:p>
        </p:txBody>
      </p:sp>
      <p:sp>
        <p:nvSpPr>
          <p:cNvPr id="39" name="Shape 24"/>
          <p:cNvSpPr/>
          <p:nvPr/>
        </p:nvSpPr>
        <p:spPr>
          <a:xfrm>
            <a:off x="7000064" y="1847088"/>
            <a:ext cx="228600" cy="100584"/>
          </a:xfrm>
          <a:prstGeom prst="downArrow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25"/>
          <p:cNvSpPr/>
          <p:nvPr/>
        </p:nvSpPr>
        <p:spPr>
          <a:xfrm>
            <a:off x="5148404" y="1965960"/>
            <a:ext cx="3291840" cy="576072"/>
          </a:xfrm>
          <a:prstGeom prst="roundRect">
            <a:avLst>
              <a:gd name="adj" fmla="val 7143"/>
            </a:avLst>
          </a:prstGeom>
          <a:solidFill>
            <a:srgbClr val="E7F4E9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26"/>
          <p:cNvSpPr/>
          <p:nvPr/>
        </p:nvSpPr>
        <p:spPr>
          <a:xfrm>
            <a:off x="5239844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E66"/>
                </a:solidFill>
              </a:rPr>
              <a:t>Feature Encoding</a:t>
            </a:r>
            <a:endParaRPr lang="en-US" sz="13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8132" y="2267712"/>
            <a:ext cx="201168" cy="20116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5514164" y="2267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Text vectorisation &amp; counts</a:t>
            </a:r>
            <a:endParaRPr lang="en-US" sz="950" dirty="0"/>
          </a:p>
        </p:txBody>
      </p:sp>
      <p:sp>
        <p:nvSpPr>
          <p:cNvPr id="45" name="Text 28"/>
          <p:cNvSpPr/>
          <p:nvPr/>
        </p:nvSpPr>
        <p:spPr>
          <a:xfrm>
            <a:off x="5514164" y="24505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6" name="Shape 29"/>
          <p:cNvSpPr/>
          <p:nvPr/>
        </p:nvSpPr>
        <p:spPr>
          <a:xfrm>
            <a:off x="7000064" y="2624328"/>
            <a:ext cx="228600" cy="100584"/>
          </a:xfrm>
          <a:prstGeom prst="downArrow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30"/>
          <p:cNvSpPr/>
          <p:nvPr/>
        </p:nvSpPr>
        <p:spPr>
          <a:xfrm>
            <a:off x="5148404" y="2743200"/>
            <a:ext cx="3291840" cy="868680"/>
          </a:xfrm>
          <a:prstGeom prst="roundRect">
            <a:avLst>
              <a:gd name="adj" fmla="val 5556"/>
            </a:avLst>
          </a:prstGeom>
          <a:solidFill>
            <a:srgbClr val="D4F5D8"/>
          </a:solidFill>
          <a:ln w="12700">
            <a:solidFill>
              <a:srgbClr val="2BAE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31"/>
          <p:cNvSpPr/>
          <p:nvPr/>
        </p:nvSpPr>
        <p:spPr>
          <a:xfrm>
            <a:off x="5239844" y="2788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AE66"/>
                </a:solidFill>
              </a:rPr>
              <a:t>Tower (Wide &amp; Deep)</a:t>
            </a:r>
            <a:endParaRPr lang="en-US" sz="1300" dirty="0"/>
          </a:p>
        </p:txBody>
      </p:sp>
      <p:sp>
        <p:nvSpPr>
          <p:cNvPr id="50" name="Text 32"/>
          <p:cNvSpPr/>
          <p:nvPr/>
        </p:nvSpPr>
        <p:spPr>
          <a:xfrm>
            <a:off x="5514164" y="30449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Wide: Dense 384 (Linear)</a:t>
            </a:r>
            <a:endParaRPr lang="en-US" sz="950" dirty="0"/>
          </a:p>
        </p:txBody>
      </p:sp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58132" y="3145536"/>
            <a:ext cx="201168" cy="201168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5514164" y="3227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333333"/>
                </a:solidFill>
              </a:rPr>
              <a:t>Deep: 384→LayerNorm→Dropout→64→ Dropout →384</a:t>
            </a:r>
            <a:endParaRPr lang="en-US" sz="95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58132" y="3410712"/>
            <a:ext cx="201168" cy="201168"/>
          </a:xfrm>
          <a:prstGeom prst="rect">
            <a:avLst/>
          </a:prstGeom>
        </p:spPr>
      </p:pic>
      <p:sp>
        <p:nvSpPr>
          <p:cNvPr id="54" name="Text 34"/>
          <p:cNvSpPr/>
          <p:nvPr/>
        </p:nvSpPr>
        <p:spPr>
          <a:xfrm>
            <a:off x="5514164" y="3410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Residual Add → 384‑dim embedding</a:t>
            </a:r>
            <a:endParaRPr lang="en-US" sz="950" dirty="0"/>
          </a:p>
        </p:txBody>
      </p:sp>
      <p:sp>
        <p:nvSpPr>
          <p:cNvPr id="55" name="Shape 35"/>
          <p:cNvSpPr/>
          <p:nvPr/>
        </p:nvSpPr>
        <p:spPr>
          <a:xfrm>
            <a:off x="3931920" y="3052492"/>
            <a:ext cx="1033604" cy="896112"/>
          </a:xfrm>
          <a:prstGeom prst="ellipse">
            <a:avLst/>
          </a:prstGeom>
          <a:solidFill>
            <a:srgbClr val="F3E5F5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pPr algn="ctr"/>
            <a:r>
              <a:rPr lang="en-US" sz="1000" b="1" dirty="0">
                <a:solidFill>
                  <a:srgbClr val="9C27B0"/>
                </a:solidFill>
              </a:rPr>
              <a:t>Dot Product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9C27B0"/>
                </a:solidFill>
              </a:rPr>
              <a:t>(Cosine similarity)</a:t>
            </a:r>
            <a:endParaRPr lang="en-US" sz="1000" dirty="0"/>
          </a:p>
          <a:p>
            <a:endParaRPr sz="1000" dirty="0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68965" y="3063240"/>
            <a:ext cx="164592" cy="164592"/>
          </a:xfrm>
          <a:prstGeom prst="rect">
            <a:avLst/>
          </a:prstGeom>
        </p:spPr>
      </p:pic>
      <p:sp>
        <p:nvSpPr>
          <p:cNvPr id="57" name="Text 36"/>
          <p:cNvSpPr/>
          <p:nvPr/>
        </p:nvSpPr>
        <p:spPr>
          <a:xfrm>
            <a:off x="3877056" y="3479292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8" name="Shape 37"/>
          <p:cNvSpPr/>
          <p:nvPr/>
        </p:nvSpPr>
        <p:spPr>
          <a:xfrm>
            <a:off x="2551176" y="4037076"/>
            <a:ext cx="3474720" cy="740664"/>
          </a:xfrm>
          <a:prstGeom prst="roundRect">
            <a:avLst>
              <a:gd name="adj" fmla="val 9091"/>
            </a:avLst>
          </a:prstGeom>
          <a:solidFill>
            <a:srgbClr val="F4F4F6"/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38"/>
          <p:cNvSpPr/>
          <p:nvPr/>
        </p:nvSpPr>
        <p:spPr>
          <a:xfrm>
            <a:off x="2514600" y="4114800"/>
            <a:ext cx="32925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C27B0"/>
                </a:solidFill>
              </a:rPr>
              <a:t>Predicted Clinical Association</a:t>
            </a:r>
            <a:endParaRPr lang="en-US" sz="1300" dirty="0"/>
          </a:p>
        </p:txBody>
      </p:sp>
      <p:sp>
        <p:nvSpPr>
          <p:cNvPr id="60" name="Text 39"/>
          <p:cNvSpPr/>
          <p:nvPr/>
        </p:nvSpPr>
        <p:spPr>
          <a:xfrm>
            <a:off x="2560320" y="4361688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Sigmoid → Probability of clinical trial entry (0-1)</a:t>
            </a:r>
            <a:endParaRPr lang="en-US" sz="950" dirty="0"/>
          </a:p>
        </p:txBody>
      </p:sp>
      <p:sp>
        <p:nvSpPr>
          <p:cNvPr id="61" name="Text 40"/>
          <p:cNvSpPr/>
          <p:nvPr/>
        </p:nvSpPr>
        <p:spPr>
          <a:xfrm>
            <a:off x="2560320" y="4544568"/>
            <a:ext cx="6126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</a:rPr>
              <a:t>Linear → Open targets evidence score (auxiliary target)</a:t>
            </a:r>
            <a:endParaRPr lang="en-US" sz="950" dirty="0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F35B4D1-CB48-5A7F-2FF9-8F4CEE747C12}"/>
              </a:ext>
            </a:extLst>
          </p:cNvPr>
          <p:cNvCxnSpPr>
            <a:cxnSpLocks/>
            <a:stCxn id="21" idx="3"/>
            <a:endCxn id="55" idx="2"/>
          </p:cNvCxnSpPr>
          <p:nvPr/>
        </p:nvCxnSpPr>
        <p:spPr>
          <a:xfrm>
            <a:off x="3749040" y="3191256"/>
            <a:ext cx="182880" cy="30929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08E50BEB-44BC-83A0-AABF-C8F1503A4EAC}"/>
              </a:ext>
            </a:extLst>
          </p:cNvPr>
          <p:cNvCxnSpPr>
            <a:cxnSpLocks/>
            <a:stCxn id="47" idx="1"/>
          </p:cNvCxnSpPr>
          <p:nvPr/>
        </p:nvCxnSpPr>
        <p:spPr>
          <a:xfrm rot="10800000" flipV="1">
            <a:off x="4965524" y="3177540"/>
            <a:ext cx="182880" cy="3794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160</Words>
  <Application>Microsoft Office PowerPoint</Application>
  <PresentationFormat>Custom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 Ofer</cp:lastModifiedBy>
  <cp:revision>3</cp:revision>
  <dcterms:created xsi:type="dcterms:W3CDTF">2025-12-14T11:50:52Z</dcterms:created>
  <dcterms:modified xsi:type="dcterms:W3CDTF">2025-12-18T11:11:13Z</dcterms:modified>
</cp:coreProperties>
</file>