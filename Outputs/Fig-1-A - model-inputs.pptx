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84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38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33333"/>
                </a:solidFill>
              </a:rPr>
              <a:t>A. OTRec</a:t>
            </a:r>
            <a:r>
              <a:rPr lang="en-US" sz="2000" b="1" dirty="0">
                <a:solidFill>
                  <a:srgbClr val="333333"/>
                </a:solidFill>
              </a:rPr>
              <a:t> Two‑Tower Architecture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Disease–Target Recommendation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512541" cy="1097280"/>
          </a:xfrm>
          <a:prstGeom prst="roundRect">
            <a:avLst>
              <a:gd name="adj" fmla="val 4167"/>
            </a:avLst>
          </a:prstGeom>
          <a:solidFill>
            <a:srgbClr val="EEF7FE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BF2"/>
                </a:solidFill>
              </a:rPr>
              <a:t>Disease Inputs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332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33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Name &amp; description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0080" y="12390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Exact synonyms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Ontology parents (EFO)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59105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16504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ID embedding (64‑dim)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2125980" y="1847088"/>
            <a:ext cx="228600" cy="100584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8"/>
          <p:cNvSpPr/>
          <p:nvPr/>
        </p:nvSpPr>
        <p:spPr>
          <a:xfrm>
            <a:off x="274320" y="1975534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DBEAFD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9"/>
          <p:cNvSpPr/>
          <p:nvPr/>
        </p:nvSpPr>
        <p:spPr>
          <a:xfrm>
            <a:off x="36576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BF2"/>
                </a:solidFill>
              </a:rPr>
              <a:t>Feature Encoding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28600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" y="2267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Text vectorisation &amp; counts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640080" y="2450592"/>
            <a:ext cx="2141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Concatenate Disease ID embedding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2125980" y="2624328"/>
            <a:ext cx="228600" cy="100584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3"/>
          <p:cNvSpPr/>
          <p:nvPr/>
        </p:nvSpPr>
        <p:spPr>
          <a:xfrm>
            <a:off x="274320" y="2743200"/>
            <a:ext cx="3474720" cy="896112"/>
          </a:xfrm>
          <a:prstGeom prst="roundRect">
            <a:avLst>
              <a:gd name="adj" fmla="val 5556"/>
            </a:avLst>
          </a:prstGeom>
          <a:solidFill>
            <a:srgbClr val="CDE2FC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4"/>
          <p:cNvSpPr/>
          <p:nvPr/>
        </p:nvSpPr>
        <p:spPr>
          <a:xfrm>
            <a:off x="3657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BF2"/>
                </a:solidFill>
              </a:rPr>
              <a:t>Tower (Wide &amp; Deep)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40080" y="30449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Wide: Dense 384 (Linear)</a:t>
            </a:r>
            <a:endParaRPr lang="en-US" sz="9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15925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0080" y="3227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9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410712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4008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Residual Add → 384‑dim embedding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5148404" y="73152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EFFBF0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19"/>
          <p:cNvSpPr/>
          <p:nvPr/>
        </p:nvSpPr>
        <p:spPr>
          <a:xfrm>
            <a:off x="5239844" y="777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E66"/>
                </a:solidFill>
              </a:rPr>
              <a:t>Target Inputs</a:t>
            </a:r>
            <a:endParaRPr lang="en-US" sz="14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132" y="103327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514164" y="1033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Gene symbol &amp; description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8132" y="1239012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514164" y="12390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GO terms (MF/BP)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8132" y="1444752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514164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Pathway annotations</a:t>
            </a:r>
            <a:endParaRPr lang="en-US" sz="10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8132" y="1650492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514164" y="16504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Tractability buckets</a:t>
            </a:r>
            <a:endParaRPr lang="en-US" sz="1000" dirty="0"/>
          </a:p>
        </p:txBody>
      </p:sp>
      <p:sp>
        <p:nvSpPr>
          <p:cNvPr id="39" name="Shape 24"/>
          <p:cNvSpPr/>
          <p:nvPr/>
        </p:nvSpPr>
        <p:spPr>
          <a:xfrm>
            <a:off x="7000064" y="1847088"/>
            <a:ext cx="228600" cy="100584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5"/>
          <p:cNvSpPr/>
          <p:nvPr/>
        </p:nvSpPr>
        <p:spPr>
          <a:xfrm>
            <a:off x="5148404" y="1965960"/>
            <a:ext cx="3291840" cy="576072"/>
          </a:xfrm>
          <a:prstGeom prst="roundRect">
            <a:avLst>
              <a:gd name="adj" fmla="val 7143"/>
            </a:avLst>
          </a:prstGeom>
          <a:solidFill>
            <a:srgbClr val="E7F4E9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26"/>
          <p:cNvSpPr/>
          <p:nvPr/>
        </p:nvSpPr>
        <p:spPr>
          <a:xfrm>
            <a:off x="5239844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E66"/>
                </a:solidFill>
              </a:rPr>
              <a:t>Feature Encoding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8132" y="2267712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514164" y="2267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Text vectorisation &amp; counts</a:t>
            </a:r>
            <a:endParaRPr lang="en-US" sz="950" dirty="0"/>
          </a:p>
        </p:txBody>
      </p:sp>
      <p:sp>
        <p:nvSpPr>
          <p:cNvPr id="45" name="Text 28"/>
          <p:cNvSpPr/>
          <p:nvPr/>
        </p:nvSpPr>
        <p:spPr>
          <a:xfrm>
            <a:off x="5514164" y="2450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29"/>
          <p:cNvSpPr/>
          <p:nvPr/>
        </p:nvSpPr>
        <p:spPr>
          <a:xfrm>
            <a:off x="7000064" y="2624328"/>
            <a:ext cx="228600" cy="100584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30"/>
          <p:cNvSpPr/>
          <p:nvPr/>
        </p:nvSpPr>
        <p:spPr>
          <a:xfrm>
            <a:off x="5148404" y="2743200"/>
            <a:ext cx="3291840" cy="868680"/>
          </a:xfrm>
          <a:prstGeom prst="roundRect">
            <a:avLst>
              <a:gd name="adj" fmla="val 5556"/>
            </a:avLst>
          </a:prstGeom>
          <a:solidFill>
            <a:srgbClr val="D4F5D8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31"/>
          <p:cNvSpPr/>
          <p:nvPr/>
        </p:nvSpPr>
        <p:spPr>
          <a:xfrm>
            <a:off x="5239844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E66"/>
                </a:solidFill>
              </a:rPr>
              <a:t>Tower (Wide &amp; Deep)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5514164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Wide: Dense 384 (Linear)</a:t>
            </a:r>
            <a:endParaRPr lang="en-US" sz="95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8132" y="3145536"/>
            <a:ext cx="201168" cy="201168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5514164" y="3227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95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8132" y="3410712"/>
            <a:ext cx="201168" cy="201168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5514164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Residual Add → 384‑dim embedding</a:t>
            </a:r>
            <a:endParaRPr lang="en-US" sz="950" dirty="0"/>
          </a:p>
        </p:txBody>
      </p:sp>
      <p:sp>
        <p:nvSpPr>
          <p:cNvPr id="55" name="Shape 35"/>
          <p:cNvSpPr/>
          <p:nvPr/>
        </p:nvSpPr>
        <p:spPr>
          <a:xfrm>
            <a:off x="3913964" y="2978768"/>
            <a:ext cx="1115238" cy="645859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9C27B0"/>
                </a:solidFill>
              </a:rPr>
              <a:t>Dot Product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C27B0"/>
                </a:solidFill>
              </a:rPr>
              <a:t>(Cosine similarity)</a:t>
            </a:r>
            <a:endParaRPr lang="en-US" sz="9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4494" y="2969624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3877056" y="347929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8" name="Shape 37"/>
          <p:cNvSpPr/>
          <p:nvPr/>
        </p:nvSpPr>
        <p:spPr>
          <a:xfrm>
            <a:off x="2774821" y="3794760"/>
            <a:ext cx="3474720" cy="740664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38"/>
          <p:cNvSpPr/>
          <p:nvPr/>
        </p:nvSpPr>
        <p:spPr>
          <a:xfrm>
            <a:off x="2838948" y="3845272"/>
            <a:ext cx="3154919" cy="286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27B0"/>
                </a:solidFill>
              </a:rPr>
              <a:t>Predicted Clinical Association</a:t>
            </a:r>
            <a:endParaRPr lang="en-US" sz="1300" dirty="0"/>
          </a:p>
        </p:txBody>
      </p:sp>
      <p:sp>
        <p:nvSpPr>
          <p:cNvPr id="60" name="Text 39"/>
          <p:cNvSpPr/>
          <p:nvPr/>
        </p:nvSpPr>
        <p:spPr>
          <a:xfrm>
            <a:off x="2781499" y="4160520"/>
            <a:ext cx="3360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Sigmoid → Probability of clinical trial entry (0-1)</a:t>
            </a:r>
          </a:p>
          <a:p>
            <a:r>
              <a:rPr lang="en-US" sz="950" dirty="0">
                <a:solidFill>
                  <a:srgbClr val="333333"/>
                </a:solidFill>
              </a:rPr>
              <a:t>Linear → Open targets evidence score (auxiliary target)</a:t>
            </a:r>
            <a:endParaRPr lang="en-US" sz="950" dirty="0"/>
          </a:p>
        </p:txBody>
      </p:sp>
      <p:sp>
        <p:nvSpPr>
          <p:cNvPr id="61" name="Text 40"/>
          <p:cNvSpPr/>
          <p:nvPr/>
        </p:nvSpPr>
        <p:spPr>
          <a:xfrm>
            <a:off x="2560320" y="454456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F35B4D1-CB48-5A7F-2FF9-8F4CEE747C12}"/>
              </a:ext>
            </a:extLst>
          </p:cNvPr>
          <p:cNvCxnSpPr>
            <a:cxnSpLocks/>
            <a:stCxn id="21" idx="3"/>
            <a:endCxn id="55" idx="2"/>
          </p:cNvCxnSpPr>
          <p:nvPr/>
        </p:nvCxnSpPr>
        <p:spPr>
          <a:xfrm>
            <a:off x="3749040" y="3191256"/>
            <a:ext cx="164924" cy="1104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08E50BEB-44BC-83A0-AABF-C8F1503A4EAC}"/>
              </a:ext>
            </a:extLst>
          </p:cNvPr>
          <p:cNvCxnSpPr>
            <a:cxnSpLocks/>
            <a:stCxn id="47" idx="1"/>
            <a:endCxn id="55" idx="6"/>
          </p:cNvCxnSpPr>
          <p:nvPr/>
        </p:nvCxnSpPr>
        <p:spPr>
          <a:xfrm rot="10800000" flipV="1">
            <a:off x="5029202" y="3177540"/>
            <a:ext cx="119202" cy="1241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37A10F2-EE43-3C8A-FD20-2D9AD9B51EDC}"/>
              </a:ext>
            </a:extLst>
          </p:cNvPr>
          <p:cNvSpPr/>
          <p:nvPr/>
        </p:nvSpPr>
        <p:spPr>
          <a:xfrm>
            <a:off x="4407408" y="3644104"/>
            <a:ext cx="164592" cy="1460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Ofer</cp:lastModifiedBy>
  <cp:revision>5</cp:revision>
  <dcterms:created xsi:type="dcterms:W3CDTF">2025-12-14T11:50:52Z</dcterms:created>
  <dcterms:modified xsi:type="dcterms:W3CDTF">2025-12-18T13:08:46Z</dcterms:modified>
</cp:coreProperties>
</file>